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8" r:id="rId13"/>
    <p:sldId id="266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89EFED-96BF-4AFE-8E8E-695AEB67A800}" v="161" dt="2026-04-21T01:19:44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53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9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417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5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0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4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6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98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352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63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0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5067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6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636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194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8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4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179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Primality Tests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Aidan Szilagyi, Benjamin Wolcott, Elsa Norman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1BCA-5427-BBF2-B146-9A4475DE8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Primality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43B03-CA29-F4F6-461A-F4600844F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054148" cy="4195481"/>
          </a:xfrm>
        </p:spPr>
        <p:txBody>
          <a:bodyPr/>
          <a:lstStyle/>
          <a:p>
            <a:r>
              <a:rPr lang="en-US" b="1"/>
              <a:t>Prime number </a:t>
            </a:r>
            <a:r>
              <a:rPr lang="en-US"/>
              <a:t>– a number which is only divisible evenly by itself and 1</a:t>
            </a:r>
            <a:endParaRPr lang="en-US" b="1"/>
          </a:p>
          <a:p>
            <a:endParaRPr lang="en-US" b="1"/>
          </a:p>
          <a:p>
            <a:r>
              <a:rPr lang="en-US" b="1"/>
              <a:t>Our goal: </a:t>
            </a:r>
            <a:r>
              <a:rPr lang="en-US"/>
              <a:t>given a number </a:t>
            </a:r>
            <a:r>
              <a:rPr lang="en-US" i="1"/>
              <a:t>n</a:t>
            </a:r>
            <a:r>
              <a:rPr lang="en-US"/>
              <a:t>, determine if it is prime in a way that is both fast and accurate</a:t>
            </a:r>
          </a:p>
          <a:p>
            <a:endParaRPr lang="en-US" b="1"/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701805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834D2-9682-3931-84B1-477FEB5EA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Trial Division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9DE0B6-CB65-FBBC-ACF9-CDA77C513C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4293" y="1580497"/>
                <a:ext cx="8946541" cy="4195481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/>
                  <a:t>Naïve approach: test every possible factor and check if n evenly divides by it</a:t>
                </a:r>
              </a:p>
              <a:p>
                <a:r>
                  <a:rPr lang="en-US"/>
                  <a:t>Iterate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n-US" b="0"/>
              </a:p>
              <a:p>
                <a:pPr marL="457200" lvl="1" indent="0">
                  <a:buNone/>
                </a:pPr>
                <a:r>
                  <a:rPr lang="en-US"/>
                  <a:t>any number which divides n must be less than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/>
                  <a:t> or is multiplied by a number less than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/>
                  <a:t> to reach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9DE0B6-CB65-FBBC-ACF9-CDA77C513C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4293" y="1580497"/>
                <a:ext cx="8946541" cy="4195481"/>
              </a:xfrm>
              <a:blipFill>
                <a:blip r:embed="rId2"/>
                <a:stretch>
                  <a:fillRect l="-341" t="-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9526F236-CEF7-8FAA-6811-562FE2A3D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780" y="3578473"/>
            <a:ext cx="5435600" cy="271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49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3E24B-2D23-4A99-C436-AEEAB96FE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CE9E2A-FBC7-A6B8-0931-F160D32CAC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pPr>
                  <a:buClr>
                    <a:srgbClr val="8AD0D6"/>
                  </a:buClr>
                </a:pPr>
                <a:r>
                  <a:rPr lang="en-US" b="1"/>
                  <a:t>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rad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𝐥𝐨𝐠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/>
                  <a:t>) </a:t>
                </a:r>
                <a:r>
                  <a:rPr lang="en-US"/>
                  <a:t>runtime</a:t>
                </a:r>
                <a:endParaRPr lang="en-US" b="1"/>
              </a:p>
              <a:p>
                <a:pPr lvl="1">
                  <a:buClr>
                    <a:srgbClr val="8AD0D6"/>
                  </a:buClr>
                </a:pPr>
                <a:r>
                  <a:rPr lang="en-US"/>
                  <a:t>Since we check numbers from 2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n-US"/>
              </a:p>
              <a:p>
                <a:pPr marL="0" indent="0">
                  <a:buClr>
                    <a:srgbClr val="8AD0D6"/>
                  </a:buClr>
                  <a:buNone/>
                </a:pPr>
                <a:r>
                  <a:rPr lang="en-US"/>
                  <a:t>	Not ideal when numbers get increasingly larger</a:t>
                </a:r>
              </a:p>
              <a:p>
                <a:pPr>
                  <a:buClr>
                    <a:srgbClr val="8AD0D6"/>
                  </a:buClr>
                </a:pPr>
                <a:endParaRPr lang="en-US"/>
              </a:p>
              <a:p>
                <a:pPr>
                  <a:buClr>
                    <a:srgbClr val="8AD0D6"/>
                  </a:buClr>
                </a:pPr>
                <a:r>
                  <a:rPr lang="en-US"/>
                  <a:t>Optimizations can be made, such as by skipping even numbers beyond 2</a:t>
                </a:r>
              </a:p>
              <a:p>
                <a:pPr>
                  <a:buClr>
                    <a:srgbClr val="8AD0D6"/>
                  </a:buClr>
                </a:pPr>
                <a:endParaRPr lang="en-US"/>
              </a:p>
              <a:p>
                <a:pPr>
                  <a:buClr>
                    <a:srgbClr val="8AD0D6"/>
                  </a:buClr>
                </a:pPr>
                <a:r>
                  <a:rPr lang="en-US"/>
                  <a:t>Slow, but accurate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CE9E2A-FBC7-A6B8-0931-F160D32CAC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9" t="-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6031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8950A-7692-0A0A-0102-E7B5B301F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Fermat's Little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EA7C0-5969-87E4-8F62-5F2A5A7B9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Fermat's Little Theorem states that for all prime numbers p and integers a, </a:t>
            </a:r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/>
              <a:t>You can divide this formulation by a (when a&lt;=p-1) on both sides to get:</a:t>
            </a:r>
            <a:br>
              <a:rPr lang="en-US"/>
            </a:br>
            <a:br>
              <a:rPr lang="en-US"/>
            </a:br>
            <a:endParaRPr lang="en-US"/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/>
              <a:t>When a number fails Fermat's Little Theorem, we know it is not prime. Proving that a number is prime is more difficult</a:t>
            </a:r>
            <a:br>
              <a:rPr lang="en-US"/>
            </a:br>
            <a:br>
              <a:rPr lang="en-US"/>
            </a:b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848C12-42DF-CDEC-7E07-DF4F61D5E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746" y="2840567"/>
            <a:ext cx="2352675" cy="457200"/>
          </a:xfrm>
          <a:prstGeom prst="rect">
            <a:avLst/>
          </a:prstGeom>
        </p:spPr>
      </p:pic>
      <p:pic>
        <p:nvPicPr>
          <p:cNvPr id="5" name="Picture 4" descr="A number one and a number one&#10;&#10;AI-generated content may be incorrect.">
            <a:extLst>
              <a:ext uri="{FF2B5EF4-FFF2-40B4-BE49-F238E27FC236}">
                <a16:creationId xmlns:a16="http://schemas.microsoft.com/office/drawing/2014/main" id="{54B1E388-5D0B-2BD5-FE3E-76C204D18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508" y="4418542"/>
            <a:ext cx="2533650" cy="4762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E3E5A2-F99A-9CC9-EE8E-CB6DC94CFE68}"/>
                  </a:ext>
                </a:extLst>
              </p:cNvPr>
              <p:cNvSpPr txBox="1"/>
              <p:nvPr/>
            </p:nvSpPr>
            <p:spPr>
              <a:xfrm>
                <a:off x="5434024" y="2983745"/>
                <a:ext cx="1518060" cy="277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E3E5A2-F99A-9CC9-EE8E-CB6DC94CF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024" y="2983745"/>
                <a:ext cx="1518060" cy="277000"/>
              </a:xfrm>
              <a:prstGeom prst="rect">
                <a:avLst/>
              </a:prstGeom>
              <a:blipFill>
                <a:blip r:embed="rId4"/>
                <a:stretch>
                  <a:fillRect b="-2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90B133D-D19B-1D7C-53DC-21DAEAD10C6E}"/>
              </a:ext>
            </a:extLst>
          </p:cNvPr>
          <p:cNvSpPr txBox="1"/>
          <p:nvPr/>
        </p:nvSpPr>
        <p:spPr>
          <a:xfrm>
            <a:off x="6952084" y="2937578"/>
            <a:ext cx="231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0C7C36-4C91-1813-670B-F20A62E6BACB}"/>
                  </a:ext>
                </a:extLst>
              </p:cNvPr>
              <p:cNvSpPr txBox="1"/>
              <p:nvPr/>
            </p:nvSpPr>
            <p:spPr>
              <a:xfrm>
                <a:off x="8021008" y="2983744"/>
                <a:ext cx="12445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%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0C7C36-4C91-1813-670B-F20A62E6B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008" y="2983744"/>
                <a:ext cx="1244508" cy="276999"/>
              </a:xfrm>
              <a:prstGeom prst="rect">
                <a:avLst/>
              </a:prstGeom>
              <a:blipFill>
                <a:blip r:embed="rId5"/>
                <a:stretch>
                  <a:fillRect l="-1961" r="-1471" b="-2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356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6FE02-32FE-2621-CC13-F95A9734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this to test primality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B8428-88F0-5FB5-3672-C302BD6DB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If we check every possible base a, we can prove that a number is prime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n-US"/>
              <a:t>If we test a non-prime p with one of its factors a, it will fail Fermat's little Theorem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n-US"/>
              <a:t>However, this would be slower than our trial division algorithm</a:t>
            </a:r>
          </a:p>
          <a:p>
            <a:pPr>
              <a:buClr>
                <a:srgbClr val="8AD0D6"/>
              </a:buClr>
            </a:pPr>
            <a:r>
              <a:rPr lang="en-US"/>
              <a:t>Still, if a number passes the Little Theorem with several random potential factors, then we have good reason to believe that the number is prime.</a:t>
            </a:r>
          </a:p>
        </p:txBody>
      </p:sp>
    </p:spTree>
    <p:extLst>
      <p:ext uri="{BB962C8B-B14F-4D97-AF65-F5344CB8AC3E}">
        <p14:creationId xmlns:p14="http://schemas.microsoft.com/office/powerpoint/2010/main" val="865126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4B419-74FB-7062-7FB3-3BE2D1A9C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Fermat Primality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CE1E7-3627-7896-6F66-35AFF3DE5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Idea: test a candidate number p against a few random values for a. If any value of a fails, the number is not prime. If they all pass, the number is </a:t>
            </a:r>
            <a:r>
              <a:rPr lang="en-US" i="1"/>
              <a:t>probably </a:t>
            </a:r>
            <a:r>
              <a:rPr lang="en-US"/>
              <a:t>prime</a:t>
            </a:r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6FDB6A9-2C5F-78AC-E028-9735621A2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959" y="3146955"/>
            <a:ext cx="781050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508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6E024-C6FE-10D0-A6C0-EAFE834D4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1B413-C5F6-15E1-8C5E-A4C587688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26198"/>
            <a:ext cx="8946541" cy="4675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O(k log</a:t>
            </a:r>
            <a:r>
              <a:rPr lang="en-US" b="1" baseline="30000"/>
              <a:t>3 </a:t>
            </a:r>
            <a:r>
              <a:rPr lang="en-US" b="1"/>
              <a:t>n) </a:t>
            </a:r>
            <a:r>
              <a:rPr lang="en-US"/>
              <a:t>runtime</a:t>
            </a:r>
            <a:endParaRPr lang="en-US" b="1"/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n-US"/>
              <a:t>n – number being tested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n-US"/>
              <a:t>k – number of random iterations</a:t>
            </a:r>
          </a:p>
          <a:p>
            <a:pPr>
              <a:buClr>
                <a:srgbClr val="8AD0D6"/>
              </a:buClr>
            </a:pPr>
            <a:r>
              <a:rPr lang="en-US"/>
              <a:t>Using binary exponentiation to compute </a:t>
            </a:r>
            <a:r>
              <a:rPr lang="en-US" i="1"/>
              <a:t>a</a:t>
            </a:r>
            <a:r>
              <a:rPr lang="en-US" i="1" baseline="30000"/>
              <a:t>(n-1) </a:t>
            </a:r>
            <a:r>
              <a:rPr lang="en-US" i="1"/>
              <a:t>mod n</a:t>
            </a:r>
            <a:r>
              <a:rPr lang="en-US"/>
              <a:t> takes </a:t>
            </a:r>
            <a:r>
              <a:rPr lang="en-US" b="1"/>
              <a:t>O(log n)</a:t>
            </a:r>
            <a:r>
              <a:rPr lang="en-US"/>
              <a:t> multiplications</a:t>
            </a:r>
          </a:p>
          <a:p>
            <a:pPr>
              <a:buClr>
                <a:srgbClr val="8AD0D6"/>
              </a:buClr>
            </a:pPr>
            <a:r>
              <a:rPr lang="en-US"/>
              <a:t>Multiplication for large integers is </a:t>
            </a:r>
            <a:r>
              <a:rPr lang="en-US" b="1"/>
              <a:t>O(log</a:t>
            </a:r>
            <a:r>
              <a:rPr lang="en-US" b="1" baseline="30000"/>
              <a:t>2</a:t>
            </a:r>
            <a:r>
              <a:rPr lang="en-US" b="1"/>
              <a:t> n)</a:t>
            </a:r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/>
              <a:t>Carmichael Numbers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n-US"/>
              <a:t>Product of at least 3 prime numbers</a:t>
            </a:r>
          </a:p>
          <a:p>
            <a:pPr lvl="1"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561 = 3 × 11 × 17</a:t>
            </a:r>
          </a:p>
          <a:p>
            <a:pPr lvl="1"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1105 = 5 × 13 × 17</a:t>
            </a:r>
            <a:endParaRPr lang="en-US"/>
          </a:p>
          <a:p>
            <a:pPr lvl="1">
              <a:buClr>
                <a:srgbClr val="8AD0D6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725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D10F-E962-7DEC-78C2-FB564FED4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Expanding on the Fermat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A518D-7101-752E-6BBD-E4EA5D653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Faster, but not always reliable </a:t>
            </a:r>
            <a:r>
              <a:rPr lang="en-US">
                <a:ea typeface="+mj-lt"/>
                <a:cs typeface="+mj-lt"/>
              </a:rPr>
              <a:t>→ how can we improve?</a:t>
            </a:r>
          </a:p>
          <a:p>
            <a:pPr>
              <a:buClr>
                <a:srgbClr val="8AD0D6"/>
              </a:buClr>
            </a:pPr>
            <a:r>
              <a:rPr lang="en-US"/>
              <a:t>Rewrite </a:t>
            </a:r>
            <a:r>
              <a:rPr lang="en-US" i="1"/>
              <a:t>n – 1</a:t>
            </a:r>
            <a:r>
              <a:rPr lang="en-US"/>
              <a:t> as </a:t>
            </a:r>
            <a:r>
              <a:rPr lang="en-US" i="1"/>
              <a:t>2</a:t>
            </a:r>
            <a:r>
              <a:rPr lang="en-US" i="1" baseline="30000"/>
              <a:t>s</a:t>
            </a:r>
            <a:r>
              <a:rPr lang="en-US" i="1">
                <a:ea typeface="+mj-lt"/>
                <a:cs typeface="+mj-lt"/>
              </a:rPr>
              <a:t>· d </a:t>
            </a:r>
            <a:r>
              <a:rPr lang="en-US">
                <a:ea typeface="+mj-lt"/>
                <a:cs typeface="+mj-lt"/>
              </a:rPr>
              <a:t>where </a:t>
            </a:r>
            <a:r>
              <a:rPr lang="en-US" i="1">
                <a:ea typeface="+mj-lt"/>
                <a:cs typeface="+mj-lt"/>
              </a:rPr>
              <a:t>d</a:t>
            </a:r>
            <a:r>
              <a:rPr lang="en-US">
                <a:ea typeface="+mj-lt"/>
                <a:cs typeface="+mj-lt"/>
              </a:rPr>
              <a:t> is odd</a:t>
            </a:r>
            <a:r>
              <a:rPr lang="en-US" i="1">
                <a:ea typeface="+mj-lt"/>
                <a:cs typeface="+mj-lt"/>
              </a:rPr>
              <a:t>  </a:t>
            </a:r>
            <a:r>
              <a:rPr lang="en-US">
                <a:ea typeface="+mj-lt"/>
                <a:cs typeface="+mj-lt"/>
              </a:rPr>
              <a:t>(</a:t>
            </a:r>
            <a:r>
              <a:rPr lang="en-US" i="1">
                <a:ea typeface="+mj-lt"/>
                <a:cs typeface="+mj-lt"/>
              </a:rPr>
              <a:t>n – 1</a:t>
            </a:r>
            <a:r>
              <a:rPr lang="en-US">
                <a:ea typeface="+mj-lt"/>
                <a:cs typeface="+mj-lt"/>
              </a:rPr>
              <a:t> will be even for any prime number greater than 2), then factorize</a:t>
            </a:r>
          </a:p>
          <a:p>
            <a:pPr>
              <a:buClr>
                <a:srgbClr val="8AD0D6"/>
              </a:buClr>
            </a:pPr>
            <a:endParaRPr lang="en-US">
              <a:ea typeface="+mj-lt"/>
              <a:cs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655A15-0862-E258-E870-7E3667FBE52A}"/>
              </a:ext>
            </a:extLst>
          </p:cNvPr>
          <p:cNvSpPr txBox="1"/>
          <p:nvPr/>
        </p:nvSpPr>
        <p:spPr>
          <a:xfrm>
            <a:off x="902392" y="1479255"/>
            <a:ext cx="86745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isPrimeTrialDivision</a:t>
            </a:r>
            <a:r>
              <a:rPr lang="en-US"/>
              <a:t>(561) → </a:t>
            </a:r>
            <a:r>
              <a:rPr lang="en-US" b="1"/>
              <a:t>False</a:t>
            </a:r>
            <a:r>
              <a:rPr lang="en-US"/>
              <a:t>           </a:t>
            </a:r>
            <a:r>
              <a:rPr lang="en-US" err="1"/>
              <a:t>isPrimeFermat</a:t>
            </a:r>
            <a:r>
              <a:rPr lang="en-US"/>
              <a:t>(561) </a:t>
            </a:r>
            <a:r>
              <a:rPr lang="en-US">
                <a:ea typeface="+mn-lt"/>
                <a:cs typeface="+mn-lt"/>
              </a:rPr>
              <a:t>→ </a:t>
            </a:r>
            <a:r>
              <a:rPr lang="en-US" b="1">
                <a:ea typeface="+mn-lt"/>
                <a:cs typeface="+mn-lt"/>
              </a:rPr>
              <a:t>True </a:t>
            </a:r>
            <a:endParaRPr lang="en-US" b="1"/>
          </a:p>
        </p:txBody>
      </p:sp>
      <p:pic>
        <p:nvPicPr>
          <p:cNvPr id="5" name="Picture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A5002386-E8C2-C433-BBCB-BDEFECC22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583" y="3228941"/>
            <a:ext cx="8360834" cy="351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44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DC73A-27E1-4564-3E0E-40245EA38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BC15A-F1CE-4BC9-8E8C-1D9A8EFFF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Expanding on the Fermat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152FB-3D75-575D-3A24-A9AB50CF0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896" y="4963334"/>
            <a:ext cx="8946541" cy="164489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We can now test all of these factors, and if any of them are not prime we know the number is not prime.</a:t>
            </a:r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Is this a stronger test than the basic Fermat test?</a:t>
            </a:r>
          </a:p>
          <a:p>
            <a:pPr>
              <a:buClr>
                <a:srgbClr val="8AD0D6"/>
              </a:buClr>
            </a:pPr>
            <a:endParaRPr lang="en-US">
              <a:ea typeface="+mj-lt"/>
              <a:cs typeface="+mj-lt"/>
            </a:endParaRPr>
          </a:p>
        </p:txBody>
      </p:sp>
      <p:pic>
        <p:nvPicPr>
          <p:cNvPr id="5" name="Picture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5FA0F705-6103-7DF8-4A6B-813BF3B6D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583" y="1271024"/>
            <a:ext cx="8360834" cy="351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11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3F2E-2B03-6B82-B48D-262C302DD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Miller-Rabin Primality Test</a:t>
            </a:r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4BEDAE0-31C2-1A27-B1DD-CFAB6AB538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5898" y="1379941"/>
            <a:ext cx="7939616" cy="49276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11DBD1F-334D-F6E5-1BDF-1DAC009EB98F}"/>
              </a:ext>
            </a:extLst>
          </p:cNvPr>
          <p:cNvCxnSpPr/>
          <p:nvPr/>
        </p:nvCxnSpPr>
        <p:spPr>
          <a:xfrm>
            <a:off x="1714500" y="1904999"/>
            <a:ext cx="2391833" cy="582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D333E05-7B38-3332-402F-CC2AA28E20D2}"/>
              </a:ext>
            </a:extLst>
          </p:cNvPr>
          <p:cNvSpPr txBox="1"/>
          <p:nvPr/>
        </p:nvSpPr>
        <p:spPr>
          <a:xfrm>
            <a:off x="338666" y="1227666"/>
            <a:ext cx="30268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Use binary operations to decompose n into 2</a:t>
            </a:r>
            <a:r>
              <a:rPr lang="en-US" baseline="30000"/>
              <a:t>s</a:t>
            </a:r>
            <a:r>
              <a:rPr lang="en-US"/>
              <a:t> and 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56C619-28D5-ED57-2546-4A726ECBD094}"/>
              </a:ext>
            </a:extLst>
          </p:cNvPr>
          <p:cNvCxnSpPr/>
          <p:nvPr/>
        </p:nvCxnSpPr>
        <p:spPr>
          <a:xfrm>
            <a:off x="2211917" y="3481917"/>
            <a:ext cx="2116666" cy="846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A5FDCEB-9A41-8BC6-235C-A7CBC57B4541}"/>
              </a:ext>
            </a:extLst>
          </p:cNvPr>
          <p:cNvSpPr txBox="1"/>
          <p:nvPr/>
        </p:nvSpPr>
        <p:spPr>
          <a:xfrm>
            <a:off x="338665" y="2783416"/>
            <a:ext cx="30268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Run check for each of 5 random test cases</a:t>
            </a:r>
          </a:p>
        </p:txBody>
      </p:sp>
    </p:spTree>
    <p:extLst>
      <p:ext uri="{BB962C8B-B14F-4D97-AF65-F5344CB8AC3E}">
        <p14:creationId xmlns:p14="http://schemas.microsoft.com/office/powerpoint/2010/main" val="4173676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07BD7-6FD0-8D56-A354-FA4583C3D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5B284CD-1D23-F2C2-6119-D257D35C6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5" t="661" r="24898" b="-661"/>
          <a:stretch>
            <a:fillRect/>
          </a:stretch>
        </p:blipFill>
        <p:spPr>
          <a:xfrm>
            <a:off x="5638495" y="1378883"/>
            <a:ext cx="5099689" cy="50958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E1C966-69C4-EDFC-7AD2-BCF431FE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Miller-Rabin Primality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16B645-1818-857A-DF49-8731FD8F105C}"/>
              </a:ext>
            </a:extLst>
          </p:cNvPr>
          <p:cNvSpPr txBox="1"/>
          <p:nvPr/>
        </p:nvSpPr>
        <p:spPr>
          <a:xfrm>
            <a:off x="338666" y="1227666"/>
            <a:ext cx="302683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Check the last two factors of our factorization: (a</a:t>
            </a:r>
            <a:r>
              <a:rPr lang="en-US" baseline="30000"/>
              <a:t>d</a:t>
            </a:r>
            <a:r>
              <a:rPr lang="en-US"/>
              <a:t> + 1) and (a</a:t>
            </a:r>
            <a:r>
              <a:rPr lang="en-US" baseline="30000"/>
              <a:t>d</a:t>
            </a:r>
            <a:r>
              <a:rPr lang="en-US"/>
              <a:t> –1)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714DCB-F59A-D130-415A-81A7CB8F81D3}"/>
              </a:ext>
            </a:extLst>
          </p:cNvPr>
          <p:cNvSpPr txBox="1"/>
          <p:nvPr/>
        </p:nvSpPr>
        <p:spPr>
          <a:xfrm>
            <a:off x="338665" y="3037416"/>
            <a:ext cx="433916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x is (a</a:t>
            </a:r>
            <a:r>
              <a:rPr lang="en-US" baseline="30000"/>
              <a:t>d</a:t>
            </a:r>
            <a:r>
              <a:rPr lang="en-US"/>
              <a:t> % n) at first, so multiplying it by itself produces (a</a:t>
            </a:r>
            <a:r>
              <a:rPr lang="en-US" baseline="30000"/>
              <a:t>2d</a:t>
            </a:r>
            <a:r>
              <a:rPr lang="en-US"/>
              <a:t> % n), then (a</a:t>
            </a:r>
            <a:r>
              <a:rPr lang="en-US" baseline="30000"/>
              <a:t>4d </a:t>
            </a:r>
            <a:r>
              <a:rPr lang="en-US"/>
              <a:t>% n), and with successively higher powers of 2 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51D927-3CF6-E8B0-CA3C-16AF02572648}"/>
              </a:ext>
            </a:extLst>
          </p:cNvPr>
          <p:cNvCxnSpPr/>
          <p:nvPr/>
        </p:nvCxnSpPr>
        <p:spPr>
          <a:xfrm>
            <a:off x="4678892" y="3688292"/>
            <a:ext cx="2466974" cy="269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91826F-2691-3B12-DDD5-F90143064F64}"/>
              </a:ext>
            </a:extLst>
          </p:cNvPr>
          <p:cNvCxnSpPr/>
          <p:nvPr/>
        </p:nvCxnSpPr>
        <p:spPr>
          <a:xfrm>
            <a:off x="3048000" y="1989666"/>
            <a:ext cx="3354916" cy="285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543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3EB14-5ECD-8D2D-C6D8-94DBFD921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5F4E87-DA6E-90B3-9AE1-9C13EB5C2F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b="1"/>
                  <a:t>O(k log</a:t>
                </a:r>
                <a:r>
                  <a:rPr lang="en-US" b="1" baseline="30000"/>
                  <a:t>3</a:t>
                </a:r>
                <a:r>
                  <a:rPr lang="en-US" b="1"/>
                  <a:t> n) </a:t>
                </a:r>
                <a:r>
                  <a:rPr lang="en-US"/>
                  <a:t>runtime</a:t>
                </a:r>
                <a:endParaRPr lang="en-US" b="1"/>
              </a:p>
              <a:p>
                <a:pPr lvl="1">
                  <a:buClr>
                    <a:srgbClr val="8AD0D6"/>
                  </a:buClr>
                  <a:buFont typeface="Courier New" charset="2"/>
                  <a:buChar char="o"/>
                </a:pPr>
                <a:r>
                  <a:rPr lang="en-US" b="1"/>
                  <a:t>O(log n) </a:t>
                </a:r>
                <a:r>
                  <a:rPr lang="en-US"/>
                  <a:t>multiplications with binary exponentiation</a:t>
                </a:r>
              </a:p>
              <a:p>
                <a:pPr lvl="1">
                  <a:buClr>
                    <a:srgbClr val="8AD0D6"/>
                  </a:buClr>
                  <a:buFont typeface="Courier New" charset="2"/>
                  <a:buChar char="o"/>
                </a:pPr>
                <a:r>
                  <a:rPr lang="en-US" b="1"/>
                  <a:t>O(log</a:t>
                </a:r>
                <a:r>
                  <a:rPr lang="en-US" b="1" baseline="30000"/>
                  <a:t>2</a:t>
                </a:r>
                <a:r>
                  <a:rPr lang="en-US" b="1"/>
                  <a:t> n) </a:t>
                </a:r>
                <a:r>
                  <a:rPr lang="en-US"/>
                  <a:t>for each multiplication</a:t>
                </a:r>
              </a:p>
              <a:p>
                <a:pPr lvl="1">
                  <a:buClr>
                    <a:srgbClr val="8AD0D6"/>
                  </a:buClr>
                  <a:buFont typeface="Courier New" charset="2"/>
                  <a:buChar char="o"/>
                </a:pPr>
                <a:r>
                  <a:rPr lang="en-US" b="1"/>
                  <a:t>k</a:t>
                </a:r>
                <a:r>
                  <a:rPr lang="en-US"/>
                  <a:t> rounds of testing</a:t>
                </a:r>
              </a:p>
              <a:p>
                <a:pPr marL="457200" lvl="1" indent="0">
                  <a:buClr>
                    <a:srgbClr val="8AD0D6"/>
                  </a:buClr>
                  <a:buNone/>
                </a:pPr>
                <a:endParaRPr lang="en-US" sz="2000"/>
              </a:p>
              <a:p>
                <a:pPr>
                  <a:buClr>
                    <a:srgbClr val="8AD0D6"/>
                  </a:buClr>
                </a:pPr>
                <a:r>
                  <a:rPr lang="en-US"/>
                  <a:t>Same runtime as Fermat, but much stronger</a:t>
                </a:r>
              </a:p>
              <a:p>
                <a:pPr lvl="1">
                  <a:buClr>
                    <a:srgbClr val="8AD0D6"/>
                  </a:buClr>
                  <a:buFont typeface="Courier New" charset="2"/>
                  <a:buChar char="o"/>
                </a:pPr>
                <a:r>
                  <a:rPr lang="en-US" b="1"/>
                  <a:t>¼</a:t>
                </a:r>
                <a:r>
                  <a:rPr lang="en-US"/>
                  <a:t> chance of failing on a composite number for any round</a:t>
                </a:r>
              </a:p>
              <a:p>
                <a:pPr lvl="1">
                  <a:buClr>
                    <a:srgbClr val="8AD0D6"/>
                  </a:buClr>
                  <a:buFont typeface="Courier New" charset="2"/>
                  <a:buChar char="o"/>
                </a:pPr>
                <a:r>
                  <a:rPr lang="en-US"/>
                  <a:t>Overall chance of error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b="1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box>
                              <m:box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e>
                            </m:box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box>
                  </m:oMath>
                </a14:m>
                <a:r>
                  <a:rPr lang="en-US" b="1" baseline="30000"/>
                  <a:t>k</a:t>
                </a:r>
              </a:p>
              <a:p>
                <a:pPr lvl="1">
                  <a:buClr>
                    <a:srgbClr val="8AD0D6"/>
                  </a:buClr>
                  <a:buFont typeface="Courier New" charset="2"/>
                  <a:buChar char="o"/>
                </a:pPr>
                <a:r>
                  <a:rPr lang="en-US"/>
                  <a:t>No more Carmichael issues</a:t>
                </a:r>
              </a:p>
              <a:p>
                <a:pPr>
                  <a:buClr>
                    <a:srgbClr val="8AD0D6"/>
                  </a:buClr>
                </a:pPr>
                <a:endParaRPr lang="en-US"/>
              </a:p>
              <a:p>
                <a:pPr>
                  <a:buClr>
                    <a:srgbClr val="8AD0D6"/>
                  </a:buClr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5F4E87-DA6E-90B3-9AE1-9C13EB5C2F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9" t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8845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6B2AF-B798-4D2F-8FD3-FA652D9F1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94D34-1FB9-C771-EC0A-88B591882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Miller-Rabin test is more thorough than Fermat's test because residual 1 of the modulo from our Fermat's Little Theorem formulation can have different properties when our candidate p is prime or not.</a:t>
            </a:r>
          </a:p>
          <a:p>
            <a:pPr>
              <a:buClr>
                <a:srgbClr val="8AD0D6"/>
              </a:buClr>
            </a:pPr>
            <a:r>
              <a:rPr lang="en-US"/>
              <a:t>Let n be prime, and x be a square root of 1 modulo n. Consider:</a:t>
            </a:r>
            <a:br>
              <a:rPr lang="en-US"/>
            </a:br>
            <a:br>
              <a:rPr lang="en-US"/>
            </a:br>
            <a:endParaRPr lang="en-US"/>
          </a:p>
          <a:p>
            <a:pPr>
              <a:buClr>
                <a:srgbClr val="8AD0D6"/>
              </a:buClr>
            </a:pPr>
            <a:r>
              <a:rPr lang="en-US"/>
              <a:t>So n divides either (x-1) or (x+1), meaning that x is congruent to 1 or –1 mod 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031285-25E2-4A2C-8210-9E8149601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659" y="3664805"/>
            <a:ext cx="528637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697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6FD66-8AA7-9967-D493-DF8BB5630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Why?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0E21F-CBDE-1BDF-1089-0196B9C83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When p is prime, square roots of 1 mod p themselves are congruent to 1 or -1 mod p.</a:t>
            </a:r>
          </a:p>
          <a:p>
            <a:pPr>
              <a:buClr>
                <a:srgbClr val="8AD0D6"/>
              </a:buClr>
            </a:pPr>
            <a:r>
              <a:rPr lang="en-US"/>
              <a:t>However, when p is </a:t>
            </a:r>
            <a:r>
              <a:rPr lang="en-US" i="1"/>
              <a:t>composite</a:t>
            </a:r>
            <a:r>
              <a:rPr lang="en-US"/>
              <a:t>, this isn't the case. Take the Carmichael number 561 and its coprime 4:</a:t>
            </a: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 with 4</a:t>
            </a:r>
            <a:br>
              <a:rPr lang="en-US"/>
            </a:br>
            <a:endParaRPr lang="en-US"/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/>
              <a:t>Here, Miller-Rabin tested with 4 detects 561 as a composite number, since repeated square roots reveal a non-one residual</a:t>
            </a:r>
          </a:p>
        </p:txBody>
      </p:sp>
      <p:pic>
        <p:nvPicPr>
          <p:cNvPr id="5" name="Picture 4" descr="A number and text on a white background&#10;&#10;AI-generated content may be incorrect.">
            <a:extLst>
              <a:ext uri="{FF2B5EF4-FFF2-40B4-BE49-F238E27FC236}">
                <a16:creationId xmlns:a16="http://schemas.microsoft.com/office/drawing/2014/main" id="{3719B5F8-E2EE-88CB-A721-CAFD5C31B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548796"/>
            <a:ext cx="2846754" cy="163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600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22DC55-3B8E-4656-A65E-BB23550F49E0}">
  <we:reference id="c22bf5f7-55ef-4467-ac55-88a268666587" version="1.0.0.5" store="excatalog" storeType="excatalog"/>
  <we:alternateReferences>
    <we:reference id="WA200006038" version="1.0.0.5" store="en-us" storeType="omex"/>
  </we:alternateReferences>
  <we:properties>
    <we:property name="pptx_export_from_biorender" value="false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792</Words>
  <Application>Microsoft Office PowerPoint</Application>
  <PresentationFormat>Widescreen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Cambria Math</vt:lpstr>
      <vt:lpstr>Century Gothic</vt:lpstr>
      <vt:lpstr>Courier New</vt:lpstr>
      <vt:lpstr>Wingdings 3</vt:lpstr>
      <vt:lpstr>Ion</vt:lpstr>
      <vt:lpstr>Primality Tests</vt:lpstr>
      <vt:lpstr>Primality Testing</vt:lpstr>
      <vt:lpstr>Trial Division</vt:lpstr>
      <vt:lpstr>Analysis</vt:lpstr>
      <vt:lpstr>Fermat's Little Theorem</vt:lpstr>
      <vt:lpstr>Using this to test primality</vt:lpstr>
      <vt:lpstr>Fermat Primality Test</vt:lpstr>
      <vt:lpstr>Analysis</vt:lpstr>
      <vt:lpstr>Expanding on the Fermat test</vt:lpstr>
      <vt:lpstr>Expanding on the Fermat test</vt:lpstr>
      <vt:lpstr>Miller-Rabin Primality Test</vt:lpstr>
      <vt:lpstr>Miller-Rabin Primality Test</vt:lpstr>
      <vt:lpstr>Analysis</vt:lpstr>
      <vt:lpstr>Why?</vt:lpstr>
      <vt:lpstr>Why?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Wolcott</dc:creator>
  <cp:lastModifiedBy>Wolcott, Benjamin Henry (yhs3xc)</cp:lastModifiedBy>
  <cp:revision>2</cp:revision>
  <dcterms:created xsi:type="dcterms:W3CDTF">2026-04-17T17:03:26Z</dcterms:created>
  <dcterms:modified xsi:type="dcterms:W3CDTF">2026-04-21T01:22:34Z</dcterms:modified>
</cp:coreProperties>
</file>